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917498e92f44e8" /><Relationship Type="http://schemas.openxmlformats.org/officeDocument/2006/relationships/extended-properties" Target="/docProps/app.xml" Id="Rb0de2b9cf83940a0" /><Relationship Type="http://schemas.openxmlformats.org/officeDocument/2006/relationships/officeDocument" Target="/ppt/presentation.xml" Id="R1af883989d5146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bd69c1bcc942cb"/>
  </p:sldMasterIdLst>
  <p:notesMasterIdLst>
    <p:notesMasterId xmlns:r="http://schemas.openxmlformats.org/officeDocument/2006/relationships" r:id="R7fedee7a64474306"/>
  </p:notesMasterIdLst>
  <p:sldIdLst>
    <p:sldId xmlns:r="http://schemas.openxmlformats.org/officeDocument/2006/relationships" id="256" r:id="R7f5d0cea5bc441c4"/>
    <p:sldId xmlns:r="http://schemas.openxmlformats.org/officeDocument/2006/relationships" id="257" r:id="Rd9eb875aff7e4766"/>
    <p:sldId xmlns:r="http://schemas.openxmlformats.org/officeDocument/2006/relationships" id="258" r:id="R7de770ab0dc64a1a"/>
    <p:sldId xmlns:r="http://schemas.openxmlformats.org/officeDocument/2006/relationships" id="259" r:id="R083c88c7bdde4bac"/>
    <p:sldId xmlns:r="http://schemas.openxmlformats.org/officeDocument/2006/relationships" id="260" r:id="R079dbcf57f804bbb"/>
    <p:sldId xmlns:r="http://schemas.openxmlformats.org/officeDocument/2006/relationships" id="261" r:id="R3183e0beb82b4055"/>
    <p:sldId xmlns:r="http://schemas.openxmlformats.org/officeDocument/2006/relationships" id="262" r:id="Rae19a09583d24499"/>
    <p:sldId xmlns:r="http://schemas.openxmlformats.org/officeDocument/2006/relationships" id="263" r:id="R9d3a55bc65ec47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377e74791d45a8" /><Relationship Type="http://schemas.openxmlformats.org/officeDocument/2006/relationships/slideMaster" Target="/ppt/slideMasters/slideMaster1.xml" Id="R3ebd69c1bcc942cb" /><Relationship Type="http://schemas.openxmlformats.org/officeDocument/2006/relationships/notesMaster" Target="/ppt/notesMasters/notesMaster1.xml" Id="R7fedee7a64474306" /><Relationship Type="http://schemas.openxmlformats.org/officeDocument/2006/relationships/presProps" Target="/ppt/presProps.xml" Id="R5e242f9863d744d5" /><Relationship Type="http://schemas.openxmlformats.org/officeDocument/2006/relationships/tableStyles" Target="/ppt/tableStyles.xml" Id="R8172f8f16f1e46a5" /><Relationship Type="http://schemas.openxmlformats.org/officeDocument/2006/relationships/slide" Target="/ppt/slides/slide1.xml" Id="R7f5d0cea5bc441c4" /><Relationship Type="http://schemas.openxmlformats.org/officeDocument/2006/relationships/slide" Target="/ppt/slides/slide2.xml" Id="Rd9eb875aff7e4766" /><Relationship Type="http://schemas.openxmlformats.org/officeDocument/2006/relationships/slide" Target="/ppt/slides/slide3.xml" Id="R7de770ab0dc64a1a" /><Relationship Type="http://schemas.openxmlformats.org/officeDocument/2006/relationships/slide" Target="/ppt/slides/slide4.xml" Id="R083c88c7bdde4bac" /><Relationship Type="http://schemas.openxmlformats.org/officeDocument/2006/relationships/slide" Target="/ppt/slides/slide5.xml" Id="R079dbcf57f804bbb" /><Relationship Type="http://schemas.openxmlformats.org/officeDocument/2006/relationships/slide" Target="/ppt/slides/slide6.xml" Id="R3183e0beb82b4055" /><Relationship Type="http://schemas.openxmlformats.org/officeDocument/2006/relationships/slide" Target="/ppt/slides/slide7.xml" Id="Rae19a09583d24499" /><Relationship Type="http://schemas.openxmlformats.org/officeDocument/2006/relationships/slide" Target="/ppt/slides/slide8.xml" Id="R9d3a55bc65ec47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396d2f1d384d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d9ddb5180a414a" /><Relationship Type="http://schemas.openxmlformats.org/officeDocument/2006/relationships/notesMaster" Target="/ppt/notesMasters/notesMaster1.xml" Id="Ra655878725b244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2de033372f4ce7" /><Relationship Type="http://schemas.openxmlformats.org/officeDocument/2006/relationships/notesMaster" Target="/ppt/notesMasters/notesMaster1.xml" Id="Rf4adb10f060843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bdc8d371b542d4" /><Relationship Type="http://schemas.openxmlformats.org/officeDocument/2006/relationships/notesMaster" Target="/ppt/notesMasters/notesMaster1.xml" Id="Raa0a8d71f99f47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341783c1ec4902" /><Relationship Type="http://schemas.openxmlformats.org/officeDocument/2006/relationships/notesMaster" Target="/ppt/notesMasters/notesMaster1.xml" Id="Re8978993c56340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38203db3c94d58" /><Relationship Type="http://schemas.openxmlformats.org/officeDocument/2006/relationships/notesMaster" Target="/ppt/notesMasters/notesMaster1.xml" Id="R0f327049068b42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00b15e3773462c" /><Relationship Type="http://schemas.openxmlformats.org/officeDocument/2006/relationships/notesMaster" Target="/ppt/notesMasters/notesMaster1.xml" Id="R8ff310ef5d3d46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7cd4a33ed448bf" /><Relationship Type="http://schemas.openxmlformats.org/officeDocument/2006/relationships/notesMaster" Target="/ppt/notesMasters/notesMaster1.xml" Id="Ra674e90e424648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6bd4f100a74438" /><Relationship Type="http://schemas.openxmlformats.org/officeDocument/2006/relationships/notesMaster" Target="/ppt/notesMasters/notesMaster1.xml" Id="R935655b892b649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d0d9e95cbe43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e55360d5ea4b0a" /><Relationship Type="http://schemas.openxmlformats.org/officeDocument/2006/relationships/slideLayout" Target="/ppt/slideLayouts/slideLayout1.xml" Id="R6af6f38c383d40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f6f38c383d40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6fdba22a84e04" /><Relationship Type="http://schemas.openxmlformats.org/officeDocument/2006/relationships/image" Target="/ppt/media/image.png" Id="Red39f5c32b5b4957" /><Relationship Type="http://schemas.openxmlformats.org/officeDocument/2006/relationships/notesSlide" Target="/ppt/notesSlides/notesSlide1.xml" Id="Rdb678549659d46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dcb1f59794a93" /><Relationship Type="http://schemas.openxmlformats.org/officeDocument/2006/relationships/notesSlide" Target="/ppt/notesSlides/notesSlide2.xml" Id="Re2cae3ad149c4d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e166e09464868" /><Relationship Type="http://schemas.openxmlformats.org/officeDocument/2006/relationships/notesSlide" Target="/ppt/notesSlides/notesSlide3.xml" Id="R33b0be0f68874f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39d8a331b4292" /><Relationship Type="http://schemas.openxmlformats.org/officeDocument/2006/relationships/notesSlide" Target="/ppt/notesSlides/notesSlide4.xml" Id="Ree7305e2d75d45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11eef99ab4ad7" /><Relationship Type="http://schemas.openxmlformats.org/officeDocument/2006/relationships/notesSlide" Target="/ppt/notesSlides/notesSlide5.xml" Id="R9be76c90dd3c4a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e5e0df8364850" /><Relationship Type="http://schemas.openxmlformats.org/officeDocument/2006/relationships/notesSlide" Target="/ppt/notesSlides/notesSlide6.xml" Id="R293663b4488f46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0a643fd3d4e4b" /><Relationship Type="http://schemas.openxmlformats.org/officeDocument/2006/relationships/notesSlide" Target="/ppt/notesSlides/notesSlide7.xml" Id="Rc5eb2bd0c6544e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1024519a24b04" /><Relationship Type="http://schemas.openxmlformats.org/officeDocument/2006/relationships/image" Target="/ppt/media/image2.png" Id="R27facab2a40b47dc" /><Relationship Type="http://schemas.openxmlformats.org/officeDocument/2006/relationships/image" Target="/ppt/media/image3.png" Id="Rd37a446d061e495b" /><Relationship Type="http://schemas.openxmlformats.org/officeDocument/2006/relationships/notesSlide" Target="/ppt/notesSlides/notesSlide8.xml" Id="Rc65df3109db443b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ver-base">
            <a:extLst xmlns:a="http://schemas.openxmlformats.org/drawingml/2006/main">
              <a:ext uri="{FF2B5EF4-FFF2-40B4-BE49-F238E27FC236}">
                <a16:creationId xmlns:a16="http://schemas.microsoft.com/office/drawing/2014/main" id="{7C4136A4-E89C-4DA4-A824-4B640C42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cover-image-frame">
            <a:extLst xmlns:a="http://schemas.openxmlformats.org/drawingml/2006/main">
              <a:ext uri="{FF2B5EF4-FFF2-40B4-BE49-F238E27FC236}">
                <a16:creationId xmlns:a16="http://schemas.microsoft.com/office/drawing/2014/main" id="{AC806DD3-BE46-410A-9BB8-A07C7058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0"/>
            <a:ext cx="5505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</p:spPr>
      </p:sp>
      <p:pic>
        <p:nvPicPr>
          <p:cNvPr id="15" name="sputnik-her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39f5c32b5b4957"/>
          <a:stretch xmlns:a="http://schemas.openxmlformats.org/drawingml/2006/main"/>
        </p:blipFill>
        <p:spPr>
          <a:xfrm xmlns:a="http://schemas.openxmlformats.org/drawingml/2006/main">
            <a:off x="6686550" y="848453"/>
            <a:ext cx="5505450" cy="5161094"/>
          </a:xfrm>
          <a:prstGeom xmlns:a="http://schemas.openxmlformats.org/drawingml/2006/main" prst="rect">
            <a:avLst/>
          </a:prstGeom>
        </p:spPr>
      </p:pic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77A19162-65A9-4E28-8694-DDB48C66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76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400"/>
          </a:solidFill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5F17657C-8162-40CD-906D-1796BFF6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SPUTNIK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B8EF88A-884D-40D3-AF25-FDB37ABF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85875"/>
            <a:ext cx="581025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Язык, runtime
и прикладной стек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A1297FB-CB17-420C-83B7-C34A9DB6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5429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От materialized compiler system к adoptable platform</a:t>
            </a:r>
          </a:p>
        </p:txBody>
      </p:sp>
      <p:sp>
        <p:nvSpPr>
          <p:cNvPr id="8" name="cover-date">
            <a:extLst xmlns:a="http://schemas.openxmlformats.org/drawingml/2006/main">
              <a:ext uri="{FF2B5EF4-FFF2-40B4-BE49-F238E27FC236}">
                <a16:creationId xmlns:a16="http://schemas.microsoft.com/office/drawing/2014/main" id="{F87DC60D-DD44-4391-89F5-D3F2B9C5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533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97586"/>
                </a:solidFill>
                <a:latin typeface="Helvetica Neue"/>
                <a:ea typeface="Helvetica Neue"/>
                <a:cs typeface="Helvetica Neue"/>
              </a:defRPr>
            </a:pPr>
            <a:r>
              <a:t>СПОНСОРСКИЙ БРИФ · 18 ИЮЛЯ 2026</a:t>
            </a:r>
          </a:p>
        </p:txBody>
      </p:sp>
      <p:sp>
        <p:nvSpPr>
          <p:cNvPr id="9" name="cover-stack">
            <a:extLst xmlns:a="http://schemas.openxmlformats.org/drawingml/2006/main">
              <a:ext uri="{FF2B5EF4-FFF2-40B4-BE49-F238E27FC236}">
                <a16:creationId xmlns:a16="http://schemas.microsoft.com/office/drawing/2014/main" id="{1CC79E1E-EDDC-4B0B-9BB3-B6910A23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561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LANGUAGE  •  VM  •  EMBER  •  ORM  •  SQLITE</a:t>
            </a:r>
          </a:p>
        </p:txBody>
      </p:sp>
      <p:sp>
        <p:nvSpPr>
          <p:cNvPr id="10" name="cover-url">
            <a:extLst xmlns:a="http://schemas.openxmlformats.org/drawingml/2006/main">
              <a:ext uri="{FF2B5EF4-FFF2-40B4-BE49-F238E27FC236}">
                <a16:creationId xmlns:a16="http://schemas.microsoft.com/office/drawing/2014/main" id="{7B3EB623-BE7E-4F2A-9592-DECD5E74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523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D7FC1"/>
                </a:solidFill>
                <a:latin typeface="Helvetica Neue"/>
                <a:ea typeface="Helvetica Neue"/>
                <a:cs typeface="Helvetica Neue"/>
              </a:defRPr>
            </a:pPr>
            <a:r>
              <a:t>github.com/orlando-labs/amber-lang</a:t>
            </a:r>
          </a:p>
        </p:txBody>
      </p:sp>
    </p:spTree>
    <p:extLst>
      <p:ext uri="{BB962C8B-B14F-4D97-AF65-F5344CB8AC3E}">
        <p14:creationId xmlns:p14="http://schemas.microsoft.com/office/powerpoint/2010/main" val="8950707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base-2">
            <a:extLst xmlns:a="http://schemas.openxmlformats.org/drawingml/2006/main">
              <a:ext uri="{FF2B5EF4-FFF2-40B4-BE49-F238E27FC236}">
                <a16:creationId xmlns:a16="http://schemas.microsoft.com/office/drawing/2014/main" id="{DAD3549F-1835-4E63-B9BF-567AD9D5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kicker-2">
            <a:extLst xmlns:a="http://schemas.openxmlformats.org/drawingml/2006/main">
              <a:ext uri="{FF2B5EF4-FFF2-40B4-BE49-F238E27FC236}">
                <a16:creationId xmlns:a16="http://schemas.microsoft.com/office/drawing/2014/main" id="{B0BCAD8C-19F8-487D-858B-F0051DDE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ИНВЕСТИЦИОННЫЙ ТЕЗИС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3CE13401-130E-41C8-AA06-36C34228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Спонсор финансирует переход, а не абстрактную идею</a:t>
            </a:r>
          </a:p>
        </p:txBody>
      </p:sp>
      <p:sp>
        <p:nvSpPr>
          <p:cNvPr id="4" name="rule-2">
            <a:extLst xmlns:a="http://schemas.openxmlformats.org/drawingml/2006/main">
              <a:ext uri="{FF2B5EF4-FFF2-40B4-BE49-F238E27FC236}">
                <a16:creationId xmlns:a16="http://schemas.microsoft.com/office/drawing/2014/main" id="{A00404FB-BCDD-4DB8-B3A1-394C73ED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400"/>
          </a:solidFill>
        </p:spPr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5C01FB24-A590-4EF0-82AE-0FAC3827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23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97586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6" name="thesis-intro">
            <a:extLst xmlns:a="http://schemas.openxmlformats.org/drawingml/2006/main">
              <a:ext uri="{FF2B5EF4-FFF2-40B4-BE49-F238E27FC236}">
                <a16:creationId xmlns:a16="http://schemas.microsoft.com/office/drawing/2014/main" id="{BF471A8A-7A1B-43F5-BCE9-38C25F7A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13919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Sputnik</a:t>
            </a:r>
            <a:r>
              <a:t> уже соединяет язык, VM, байткод, package tooling и первые web/data пакеты. Главная задача — превратить сильную reference implementation в удобную для внешнего пользователя платформу.</a:t>
            </a:r>
          </a:p>
        </p:txBody>
      </p:sp>
      <p:sp>
        <p:nvSpPr>
          <p:cNvPr id="7" name="asset-card">
            <a:extLst xmlns:a="http://schemas.openxmlformats.org/drawingml/2006/main">
              <a:ext uri="{FF2B5EF4-FFF2-40B4-BE49-F238E27FC236}">
                <a16:creationId xmlns:a16="http://schemas.microsoft.com/office/drawing/2014/main" id="{349D7FED-A64F-41EC-AD65-54E48BCA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43200"/>
            <a:ext cx="54673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0C879"/>
            </a:solidFill>
            <a:prstDash val="solid"/>
          </a:ln>
        </p:spPr>
      </p:sp>
      <p:sp>
        <p:nvSpPr>
          <p:cNvPr id="8" name="asset-card-accent">
            <a:extLst xmlns:a="http://schemas.openxmlformats.org/drawingml/2006/main">
              <a:ext uri="{FF2B5EF4-FFF2-40B4-BE49-F238E27FC236}">
                <a16:creationId xmlns:a16="http://schemas.microsoft.com/office/drawing/2014/main" id="{8D2DC7C8-9BBB-4AD6-B0AB-21E99047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4320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400"/>
          </a:solidFill>
        </p:spPr>
      </p:sp>
      <p:sp>
        <p:nvSpPr>
          <p:cNvPr id="9" name="asset-title">
            <a:extLst xmlns:a="http://schemas.openxmlformats.org/drawingml/2006/main">
              <a:ext uri="{FF2B5EF4-FFF2-40B4-BE49-F238E27FC236}">
                <a16:creationId xmlns:a16="http://schemas.microsoft.com/office/drawing/2014/main" id="{84800BE7-4F0C-446E-B4F5-35DE72FB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4667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Технический актив</a:t>
            </a:r>
          </a:p>
        </p:txBody>
      </p:sp>
      <p:sp>
        <p:nvSpPr>
          <p:cNvPr id="10" name="asset-body">
            <a:extLst xmlns:a="http://schemas.openxmlformats.org/drawingml/2006/main">
              <a:ext uri="{FF2B5EF4-FFF2-40B4-BE49-F238E27FC236}">
                <a16:creationId xmlns:a16="http://schemas.microsoft.com/office/drawing/2014/main" id="{70A345EA-95CB-4656-A5FD-4C53C361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4762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Согласованная вертикаль от исходного кода до native-приложения</a:t>
            </a:r>
          </a:p>
        </p:txBody>
      </p:sp>
      <p:sp>
        <p:nvSpPr>
          <p:cNvPr id="11" name="gap-card">
            <a:extLst xmlns:a="http://schemas.openxmlformats.org/drawingml/2006/main">
              <a:ext uri="{FF2B5EF4-FFF2-40B4-BE49-F238E27FC236}">
                <a16:creationId xmlns:a16="http://schemas.microsoft.com/office/drawing/2014/main" id="{9949EC3E-8397-4D51-B462-6D8A8076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43200"/>
            <a:ext cx="54673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gap-card-accent">
            <a:extLst xmlns:a="http://schemas.openxmlformats.org/drawingml/2006/main">
              <a:ext uri="{FF2B5EF4-FFF2-40B4-BE49-F238E27FC236}">
                <a16:creationId xmlns:a16="http://schemas.microsoft.com/office/drawing/2014/main" id="{49FFAF02-DB8A-44A3-832D-56B2E877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4320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FC1"/>
          </a:solidFill>
        </p:spPr>
      </p:sp>
      <p:sp>
        <p:nvSpPr>
          <p:cNvPr id="13" name="gap-title">
            <a:extLst xmlns:a="http://schemas.openxmlformats.org/drawingml/2006/main">
              <a:ext uri="{FF2B5EF4-FFF2-40B4-BE49-F238E27FC236}">
                <a16:creationId xmlns:a16="http://schemas.microsoft.com/office/drawing/2014/main" id="{28BA2DEA-6562-48D4-8A9E-84167FEF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28950"/>
            <a:ext cx="4667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Adoption gap</a:t>
            </a:r>
          </a:p>
        </p:txBody>
      </p:sp>
      <p:sp>
        <p:nvSpPr>
          <p:cNvPr id="14" name="gap-body">
            <a:extLst xmlns:a="http://schemas.openxmlformats.org/drawingml/2006/main">
              <a:ext uri="{FF2B5EF4-FFF2-40B4-BE49-F238E27FC236}">
                <a16:creationId xmlns:a16="http://schemas.microsoft.com/office/drawing/2014/main" id="{0650873C-E55C-46BD-BF46-A5FA5FD6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05200"/>
            <a:ext cx="4762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Release engineering, distribution, docs, security assurance и pilot evidence</a:t>
            </a:r>
          </a:p>
        </p:txBody>
      </p:sp>
      <p:sp>
        <p:nvSpPr>
          <p:cNvPr id="15" name="asset-detail-title">
            <a:extLst xmlns:a="http://schemas.openxmlformats.org/drawingml/2006/main">
              <a:ext uri="{FF2B5EF4-FFF2-40B4-BE49-F238E27FC236}">
                <a16:creationId xmlns:a16="http://schemas.microsoft.com/office/drawing/2014/main" id="{AABD36E0-B689-4083-933E-74D8B5B6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Уже материализовано</a:t>
            </a:r>
          </a:p>
        </p:txBody>
      </p:sp>
      <p:sp>
        <p:nvSpPr>
          <p:cNvPr id="16" name="asset-detail">
            <a:extLst xmlns:a="http://schemas.openxmlformats.org/drawingml/2006/main">
              <a:ext uri="{FF2B5EF4-FFF2-40B4-BE49-F238E27FC236}">
                <a16:creationId xmlns:a16="http://schemas.microsoft.com/office/drawing/2014/main" id="{F1BE7601-4588-48D6-A7FA-33B7EB43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4381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Compiler/VM baseline
Conformance и verifier gates
Source-first packages</a:t>
            </a:r>
          </a:p>
        </p:txBody>
      </p:sp>
      <p:sp>
        <p:nvSpPr>
          <p:cNvPr id="17" name="gap-detail-title">
            <a:extLst xmlns:a="http://schemas.openxmlformats.org/drawingml/2006/main">
              <a:ext uri="{FF2B5EF4-FFF2-40B4-BE49-F238E27FC236}">
                <a16:creationId xmlns:a16="http://schemas.microsoft.com/office/drawing/2014/main" id="{7B962B44-C40D-4EED-81D1-FB6D4681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2915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7FC1"/>
                </a:solidFill>
                <a:latin typeface="Helvetica Neue"/>
                <a:ea typeface="Helvetica Neue"/>
                <a:cs typeface="Helvetica Neue"/>
              </a:defRPr>
            </a:pPr>
            <a:r>
              <a:t>Что даёт поддержка</a:t>
            </a:r>
          </a:p>
        </p:txBody>
      </p:sp>
      <p:sp>
        <p:nvSpPr>
          <p:cNvPr id="18" name="gap-detail">
            <a:extLst xmlns:a="http://schemas.openxmlformats.org/drawingml/2006/main">
              <a:ext uri="{FF2B5EF4-FFF2-40B4-BE49-F238E27FC236}">
                <a16:creationId xmlns:a16="http://schemas.microsoft.com/office/drawing/2014/main" id="{B5CA28E0-78EA-44B3-BF88-C5049309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43815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Maintainer time
Измеримые milestones
Внешняя проверка и pilots</a:t>
            </a:r>
          </a:p>
        </p:txBody>
      </p:sp>
    </p:spTree>
    <p:extLst>
      <p:ext uri="{BB962C8B-B14F-4D97-AF65-F5344CB8AC3E}">
        <p14:creationId xmlns:p14="http://schemas.microsoft.com/office/powerpoint/2010/main" val="134535476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base-3">
            <a:extLst xmlns:a="http://schemas.openxmlformats.org/drawingml/2006/main">
              <a:ext uri="{FF2B5EF4-FFF2-40B4-BE49-F238E27FC236}">
                <a16:creationId xmlns:a16="http://schemas.microsoft.com/office/drawing/2014/main" id="{4578C48A-52FA-4064-B54D-C8084473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kicker-3">
            <a:extLst xmlns:a="http://schemas.openxmlformats.org/drawingml/2006/main">
              <a:ext uri="{FF2B5EF4-FFF2-40B4-BE49-F238E27FC236}">
                <a16:creationId xmlns:a16="http://schemas.microsoft.com/office/drawing/2014/main" id="{DB7858AA-E1FB-4C6A-A85A-3A543FD6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ЧТО УЖЕ СУЩЕСТВУЕТ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29B055A7-C3F3-435C-BAFA-0A99D5F6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Одна вертикаль, четыре проверяемых слоя</a:t>
            </a:r>
          </a:p>
        </p:txBody>
      </p:sp>
      <p:sp>
        <p:nvSpPr>
          <p:cNvPr id="4" name="rule-3">
            <a:extLst xmlns:a="http://schemas.openxmlformats.org/drawingml/2006/main">
              <a:ext uri="{FF2B5EF4-FFF2-40B4-BE49-F238E27FC236}">
                <a16:creationId xmlns:a16="http://schemas.microsoft.com/office/drawing/2014/main" id="{F14E18B5-E2E9-4297-975B-E84814C1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400"/>
          </a:solidFill>
        </p:spPr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5DAE6E7E-E6E8-4E52-94C3-F45812E2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23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97586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6" name="ecosystem-intro">
            <a:extLst xmlns:a="http://schemas.openxmlformats.org/drawingml/2006/main">
              <a:ext uri="{FF2B5EF4-FFF2-40B4-BE49-F238E27FC236}">
                <a16:creationId xmlns:a16="http://schemas.microsoft.com/office/drawing/2014/main" id="{C420F6FB-BE98-42AB-A78F-4D3C81AE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0966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Первичные пакеты — не побочные демо: они проверяют concurrency, native ABI, HTTP и data boundaries на прикладных сценариях.</a:t>
            </a:r>
          </a:p>
        </p:txBody>
      </p:sp>
      <p:sp>
        <p:nvSpPr>
          <p:cNvPr id="7" name="eco-card-0">
            <a:extLst xmlns:a="http://schemas.openxmlformats.org/drawingml/2006/main">
              <a:ext uri="{FF2B5EF4-FFF2-40B4-BE49-F238E27FC236}">
                <a16:creationId xmlns:a16="http://schemas.microsoft.com/office/drawing/2014/main" id="{1177F0A5-2CE2-4E48-80A7-5259CD08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5908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0C879"/>
            </a:solidFill>
            <a:prstDash val="solid"/>
          </a:ln>
        </p:spPr>
      </p:sp>
      <p:sp>
        <p:nvSpPr>
          <p:cNvPr id="8" name="eco-num-0">
            <a:extLst xmlns:a="http://schemas.openxmlformats.org/drawingml/2006/main">
              <a:ext uri="{FF2B5EF4-FFF2-40B4-BE49-F238E27FC236}">
                <a16:creationId xmlns:a16="http://schemas.microsoft.com/office/drawing/2014/main" id="{A30484B8-B7BD-4DFE-9D23-98266195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14600"/>
            <a:ext cx="514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9" name="eco-title-0">
            <a:extLst xmlns:a="http://schemas.openxmlformats.org/drawingml/2006/main">
              <a:ext uri="{FF2B5EF4-FFF2-40B4-BE49-F238E27FC236}">
                <a16:creationId xmlns:a16="http://schemas.microsoft.com/office/drawing/2014/main" id="{D2E4C2B8-9585-4DAD-B7DC-62AFE5E0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2190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Sputnik</a:t>
            </a:r>
            <a:r>
              <a:t> core</a:t>
            </a:r>
          </a:p>
        </p:txBody>
      </p:sp>
      <p:sp>
        <p:nvSpPr>
          <p:cNvPr id="10" name="eco-body-0">
            <a:extLst xmlns:a="http://schemas.openxmlformats.org/drawingml/2006/main">
              <a:ext uri="{FF2B5EF4-FFF2-40B4-BE49-F238E27FC236}">
                <a16:creationId xmlns:a16="http://schemas.microsoft.com/office/drawing/2014/main" id="{C3699EC3-1FBC-4295-808B-23D5B8DA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76600"/>
            <a:ext cx="2190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86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C++17 compiler, VM, </a:t>
            </a:r>
            <a:r>
              <a:t>sputnik</a:t>
            </a:r>
            <a:r>
              <a:t>.bc.v1 и build/package tooling</a:t>
            </a:r>
          </a:p>
        </p:txBody>
      </p:sp>
      <p:sp>
        <p:nvSpPr>
          <p:cNvPr id="11" name="eco-proof-0">
            <a:extLst xmlns:a="http://schemas.openxmlformats.org/drawingml/2006/main">
              <a:ext uri="{FF2B5EF4-FFF2-40B4-BE49-F238E27FC236}">
                <a16:creationId xmlns:a16="http://schemas.microsoft.com/office/drawing/2014/main" id="{170869B9-6F87-46DF-B703-26993465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2590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ПРОВЕРКА</a:t>
            </a:r>
          </a:p>
        </p:txBody>
      </p:sp>
      <p:sp>
        <p:nvSpPr>
          <p:cNvPr id="12" name="eco-detail-0">
            <a:extLst xmlns:a="http://schemas.openxmlformats.org/drawingml/2006/main">
              <a:ext uri="{FF2B5EF4-FFF2-40B4-BE49-F238E27FC236}">
                <a16:creationId xmlns:a16="http://schemas.microsoft.com/office/drawing/2014/main" id="{6BF89E2A-5D22-4378-B2A9-546F0AC3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25908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Unit, corpus, conformance, backend equivalence</a:t>
            </a:r>
          </a:p>
        </p:txBody>
      </p:sp>
      <p:sp>
        <p:nvSpPr>
          <p:cNvPr id="13" name="eco-card-1">
            <a:extLst xmlns:a="http://schemas.openxmlformats.org/drawingml/2006/main">
              <a:ext uri="{FF2B5EF4-FFF2-40B4-BE49-F238E27FC236}">
                <a16:creationId xmlns:a16="http://schemas.microsoft.com/office/drawing/2014/main" id="{03168C57-AFC0-4B01-863B-A0A3C161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24100"/>
            <a:ext cx="25908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eco-num-1">
            <a:extLst xmlns:a="http://schemas.openxmlformats.org/drawingml/2006/main">
              <a:ext uri="{FF2B5EF4-FFF2-40B4-BE49-F238E27FC236}">
                <a16:creationId xmlns:a16="http://schemas.microsoft.com/office/drawing/2014/main" id="{41FF2F32-B7E3-41A3-B5E6-BA23C54D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14600"/>
            <a:ext cx="514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5" name="eco-title-1">
            <a:extLst xmlns:a="http://schemas.openxmlformats.org/drawingml/2006/main">
              <a:ext uri="{FF2B5EF4-FFF2-40B4-BE49-F238E27FC236}">
                <a16:creationId xmlns:a16="http://schemas.microsoft.com/office/drawing/2014/main" id="{5D154DAB-7BDA-4EFA-9530-F5A6C9BE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76550"/>
            <a:ext cx="2190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Ember</a:t>
            </a:r>
          </a:p>
        </p:txBody>
      </p:sp>
      <p:sp>
        <p:nvSpPr>
          <p:cNvPr id="16" name="eco-body-1">
            <a:extLst xmlns:a="http://schemas.openxmlformats.org/drawingml/2006/main">
              <a:ext uri="{FF2B5EF4-FFF2-40B4-BE49-F238E27FC236}">
                <a16:creationId xmlns:a16="http://schemas.microsoft.com/office/drawing/2014/main" id="{E4BC7480-DB0C-46F8-AA51-923E8012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76600"/>
            <a:ext cx="2190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Source-first web framework поверх net.http и scheduler</a:t>
            </a:r>
          </a:p>
        </p:txBody>
      </p:sp>
      <p:sp>
        <p:nvSpPr>
          <p:cNvPr id="17" name="eco-proof-1">
            <a:extLst xmlns:a="http://schemas.openxmlformats.org/drawingml/2006/main">
              <a:ext uri="{FF2B5EF4-FFF2-40B4-BE49-F238E27FC236}">
                <a16:creationId xmlns:a16="http://schemas.microsoft.com/office/drawing/2014/main" id="{6C431E51-7B3D-4D55-8F02-8489DCB7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29100"/>
            <a:ext cx="2590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ПРОВЕРКА</a:t>
            </a:r>
          </a:p>
        </p:txBody>
      </p:sp>
      <p:sp>
        <p:nvSpPr>
          <p:cNvPr id="18" name="eco-detail-1">
            <a:extLst xmlns:a="http://schemas.openxmlformats.org/drawingml/2006/main">
              <a:ext uri="{FF2B5EF4-FFF2-40B4-BE49-F238E27FC236}">
                <a16:creationId xmlns:a16="http://schemas.microsoft.com/office/drawing/2014/main" id="{EE2F7B83-0092-477D-B05D-AE47F4CC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72000"/>
            <a:ext cx="25908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Core, HTTP loopback и ORM integration self-tests</a:t>
            </a:r>
          </a:p>
        </p:txBody>
      </p:sp>
      <p:sp>
        <p:nvSpPr>
          <p:cNvPr id="19" name="eco-card-2">
            <a:extLst xmlns:a="http://schemas.openxmlformats.org/drawingml/2006/main">
              <a:ext uri="{FF2B5EF4-FFF2-40B4-BE49-F238E27FC236}">
                <a16:creationId xmlns:a16="http://schemas.microsoft.com/office/drawing/2014/main" id="{609BEEA2-B2F8-4BA1-951C-FF6F39EB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24100"/>
            <a:ext cx="25908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eco-num-2">
            <a:extLst xmlns:a="http://schemas.openxmlformats.org/drawingml/2006/main">
              <a:ext uri="{FF2B5EF4-FFF2-40B4-BE49-F238E27FC236}">
                <a16:creationId xmlns:a16="http://schemas.microsoft.com/office/drawing/2014/main" id="{B57D9BFE-8A9D-49A5-82EE-DB7C1538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14600"/>
            <a:ext cx="514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1" name="eco-title-2">
            <a:extLst xmlns:a="http://schemas.openxmlformats.org/drawingml/2006/main">
              <a:ext uri="{FF2B5EF4-FFF2-40B4-BE49-F238E27FC236}">
                <a16:creationId xmlns:a16="http://schemas.microsoft.com/office/drawing/2014/main" id="{7FACD3CE-8957-4CC3-9FA5-7DDA6AB6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76550"/>
            <a:ext cx="2190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sputnik</a:t>
            </a:r>
            <a:r>
              <a:t>-orm</a:t>
            </a:r>
          </a:p>
        </p:txBody>
      </p:sp>
      <p:sp>
        <p:nvSpPr>
          <p:cNvPr id="22" name="eco-body-2">
            <a:extLst xmlns:a="http://schemas.openxmlformats.org/drawingml/2006/main">
              <a:ext uri="{FF2B5EF4-FFF2-40B4-BE49-F238E27FC236}">
                <a16:creationId xmlns:a16="http://schemas.microsoft.com/office/drawing/2014/main" id="{22DD2F1E-70CD-405B-A5B9-D5B1E1E1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76600"/>
            <a:ext cx="2190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Models, validations, relations, pools и transactions</a:t>
            </a:r>
          </a:p>
        </p:txBody>
      </p:sp>
      <p:sp>
        <p:nvSpPr>
          <p:cNvPr id="23" name="eco-proof-2">
            <a:extLst xmlns:a="http://schemas.openxmlformats.org/drawingml/2006/main">
              <a:ext uri="{FF2B5EF4-FFF2-40B4-BE49-F238E27FC236}">
                <a16:creationId xmlns:a16="http://schemas.microsoft.com/office/drawing/2014/main" id="{43300731-8DC4-450A-A72F-4F6DF7EB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29100"/>
            <a:ext cx="2590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ПРОВЕРКА</a:t>
            </a:r>
          </a:p>
        </p:txBody>
      </p:sp>
      <p:sp>
        <p:nvSpPr>
          <p:cNvPr id="24" name="eco-detail-2">
            <a:extLst xmlns:a="http://schemas.openxmlformats.org/drawingml/2006/main">
              <a:ext uri="{FF2B5EF4-FFF2-40B4-BE49-F238E27FC236}">
                <a16:creationId xmlns:a16="http://schemas.microsoft.com/office/drawing/2014/main" id="{E9776299-F7E4-441E-8732-1BF033A5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72000"/>
            <a:ext cx="25908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Source checks + task-local pool integration</a:t>
            </a:r>
          </a:p>
        </p:txBody>
      </p:sp>
      <p:sp>
        <p:nvSpPr>
          <p:cNvPr id="25" name="eco-card-3">
            <a:extLst xmlns:a="http://schemas.openxmlformats.org/drawingml/2006/main">
              <a:ext uri="{FF2B5EF4-FFF2-40B4-BE49-F238E27FC236}">
                <a16:creationId xmlns:a16="http://schemas.microsoft.com/office/drawing/2014/main" id="{B4A0D1C8-6E0D-4900-89A9-D784BCB1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24100"/>
            <a:ext cx="25908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eco-num-3">
            <a:extLst xmlns:a="http://schemas.openxmlformats.org/drawingml/2006/main">
              <a:ext uri="{FF2B5EF4-FFF2-40B4-BE49-F238E27FC236}">
                <a16:creationId xmlns:a16="http://schemas.microsoft.com/office/drawing/2014/main" id="{7616E4BE-85B7-4E1B-94C2-1725EDA5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14600"/>
            <a:ext cx="514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7" name="eco-title-3">
            <a:extLst xmlns:a="http://schemas.openxmlformats.org/drawingml/2006/main">
              <a:ext uri="{FF2B5EF4-FFF2-40B4-BE49-F238E27FC236}">
                <a16:creationId xmlns:a16="http://schemas.microsoft.com/office/drawing/2014/main" id="{8606BE0A-11A4-4FBB-B02B-F7F9FA56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76550"/>
            <a:ext cx="2190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sqlite3-</a:t>
            </a:r>
            <a:r>
              <a:t>sputnik</a:t>
            </a:r>
          </a:p>
        </p:txBody>
      </p:sp>
      <p:sp>
        <p:nvSpPr>
          <p:cNvPr id="28" name="eco-body-3">
            <a:extLst xmlns:a="http://schemas.openxmlformats.org/drawingml/2006/main">
              <a:ext uri="{FF2B5EF4-FFF2-40B4-BE49-F238E27FC236}">
                <a16:creationId xmlns:a16="http://schemas.microsoft.com/office/drawing/2014/main" id="{9B7C4B6E-DF68-4E9D-8831-C07D0B7E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76600"/>
            <a:ext cx="2190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Sputnik</a:t>
            </a:r>
            <a:r>
              <a:t> API, тонкие native leaves, SQLite 3.51.0</a:t>
            </a:r>
          </a:p>
        </p:txBody>
      </p:sp>
      <p:sp>
        <p:nvSpPr>
          <p:cNvPr id="29" name="eco-proof-3">
            <a:extLst xmlns:a="http://schemas.openxmlformats.org/drawingml/2006/main">
              <a:ext uri="{FF2B5EF4-FFF2-40B4-BE49-F238E27FC236}">
                <a16:creationId xmlns:a16="http://schemas.microsoft.com/office/drawing/2014/main" id="{5A07312C-84BA-4538-A6BE-8090F82B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29100"/>
            <a:ext cx="2590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ПРОВЕРКА</a:t>
            </a:r>
          </a:p>
        </p:txBody>
      </p:sp>
      <p:sp>
        <p:nvSpPr>
          <p:cNvPr id="30" name="eco-detail-3">
            <a:extLst xmlns:a="http://schemas.openxmlformats.org/drawingml/2006/main">
              <a:ext uri="{FF2B5EF4-FFF2-40B4-BE49-F238E27FC236}">
                <a16:creationId xmlns:a16="http://schemas.microsoft.com/office/drawing/2014/main" id="{794240BB-69D2-46D5-A2CC-B8D2B8B4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72000"/>
            <a:ext cx="25908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Core, pool и ORM integration self-tests</a:t>
            </a:r>
          </a:p>
        </p:txBody>
      </p:sp>
      <p:sp>
        <p:nvSpPr>
          <p:cNvPr id="31" name="ecosystem-signal">
            <a:extLst xmlns:a="http://schemas.openxmlformats.org/drawingml/2006/main">
              <a:ext uri="{FF2B5EF4-FFF2-40B4-BE49-F238E27FC236}">
                <a16:creationId xmlns:a16="http://schemas.microsoft.com/office/drawing/2014/main" id="{3722412D-AC31-466E-BF0B-4CD8B001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572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Интеграционный сигнал: Ember + </a:t>
            </a:r>
            <a:r>
              <a:t>sputnik</a:t>
            </a:r>
            <a:r>
              <a:t>-orm + sqlite3-</a:t>
            </a:r>
            <a:r>
              <a:t>sputnik</a:t>
            </a:r>
            <a:r>
              <a:t> уже собираются в одном native graph.</a:t>
            </a:r>
          </a:p>
        </p:txBody>
      </p:sp>
    </p:spTree>
    <p:extLst>
      <p:ext uri="{BB962C8B-B14F-4D97-AF65-F5344CB8AC3E}">
        <p14:creationId xmlns:p14="http://schemas.microsoft.com/office/powerpoint/2010/main" val="840040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ase-4">
            <a:extLst xmlns:a="http://schemas.openxmlformats.org/drawingml/2006/main">
              <a:ext uri="{FF2B5EF4-FFF2-40B4-BE49-F238E27FC236}">
                <a16:creationId xmlns:a16="http://schemas.microsoft.com/office/drawing/2014/main" id="{4E277CC6-6EE9-4DAA-B295-D14867C1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kicker-4">
            <a:extLst xmlns:a="http://schemas.openxmlformats.org/drawingml/2006/main">
              <a:ext uri="{FF2B5EF4-FFF2-40B4-BE49-F238E27FC236}">
                <a16:creationId xmlns:a16="http://schemas.microsoft.com/office/drawing/2014/main" id="{4517B620-3B1A-44F9-B8D1-DEF1ACE8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ДОКАЗАТЕЛЬНАЯ БАЗА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619886CA-0E2F-46F2-BFAA-5F1F94E1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Прогресс виден в коде, тестах и release gates</a:t>
            </a:r>
          </a:p>
        </p:txBody>
      </p:sp>
      <p:sp>
        <p:nvSpPr>
          <p:cNvPr id="4" name="rule-4">
            <a:extLst xmlns:a="http://schemas.openxmlformats.org/drawingml/2006/main">
              <a:ext uri="{FF2B5EF4-FFF2-40B4-BE49-F238E27FC236}">
                <a16:creationId xmlns:a16="http://schemas.microsoft.com/office/drawing/2014/main" id="{1503A97E-D2BD-4CEF-85F3-6BADA7E6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400"/>
          </a:solidFill>
        </p:spPr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69CA6820-78FD-49CB-913E-3BCF6169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23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97586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6" name="stats-intro">
            <a:extLst xmlns:a="http://schemas.openxmlformats.org/drawingml/2006/main">
              <a:ext uri="{FF2B5EF4-FFF2-40B4-BE49-F238E27FC236}">
                <a16:creationId xmlns:a16="http://schemas.microsoft.com/office/drawing/2014/main" id="{F62CB37F-10C8-4634-9866-2DB29A77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049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Снимок локальных репозиториев на 18 июля 2026 года. Метрики — ориентиры для due diligence, а не замена независимому review.</a:t>
            </a:r>
          </a:p>
        </p:txBody>
      </p:sp>
      <p:sp>
        <p:nvSpPr>
          <p:cNvPr id="7" name="stat-card-0">
            <a:extLst xmlns:a="http://schemas.openxmlformats.org/drawingml/2006/main">
              <a:ext uri="{FF2B5EF4-FFF2-40B4-BE49-F238E27FC236}">
                <a16:creationId xmlns:a16="http://schemas.microsoft.com/office/drawing/2014/main" id="{E32D3629-7D52-48CA-9196-432EA7C6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623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0C879"/>
            </a:solidFill>
            <a:prstDash val="solid"/>
          </a:ln>
        </p:spPr>
      </p:sp>
      <p:sp>
        <p:nvSpPr>
          <p:cNvPr id="8" name="stat-accent-0">
            <a:extLst xmlns:a="http://schemas.openxmlformats.org/drawingml/2006/main">
              <a:ext uri="{FF2B5EF4-FFF2-40B4-BE49-F238E27FC236}">
                <a16:creationId xmlns:a16="http://schemas.microsoft.com/office/drawing/2014/main" id="{6281C866-C86C-47CA-8373-1783723D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62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400"/>
          </a:solidFill>
        </p:spPr>
      </p:sp>
      <p:sp>
        <p:nvSpPr>
          <p:cNvPr id="9" name="stat-num-0">
            <a:extLst xmlns:a="http://schemas.openxmlformats.org/drawingml/2006/main">
              <a:ext uri="{FF2B5EF4-FFF2-40B4-BE49-F238E27FC236}">
                <a16:creationId xmlns:a16="http://schemas.microsoft.com/office/drawing/2014/main" id="{F3EB18EB-92FA-4C6A-B05C-0BA7278B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8575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296</a:t>
            </a:r>
          </a:p>
        </p:txBody>
      </p:sp>
      <p:sp>
        <p:nvSpPr>
          <p:cNvPr id="10" name="stat-label-0">
            <a:extLst xmlns:a="http://schemas.openxmlformats.org/drawingml/2006/main">
              <a:ext uri="{FF2B5EF4-FFF2-40B4-BE49-F238E27FC236}">
                <a16:creationId xmlns:a16="http://schemas.microsoft.com/office/drawing/2014/main" id="{25B88D54-69FF-4CE8-9994-B156C029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952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commits в </a:t>
            </a:r>
            <a:r>
              <a:t>sputnik</a:t>
            </a:r>
            <a:r>
              <a:t>-lang</a:t>
            </a:r>
          </a:p>
        </p:txBody>
      </p:sp>
      <p:sp>
        <p:nvSpPr>
          <p:cNvPr id="11" name="stat-note-0">
            <a:extLst xmlns:a="http://schemas.openxmlformats.org/drawingml/2006/main">
              <a:ext uri="{FF2B5EF4-FFF2-40B4-BE49-F238E27FC236}">
                <a16:creationId xmlns:a16="http://schemas.microsoft.com/office/drawing/2014/main" id="{6A4F7C45-7A46-47B6-8045-84B7119A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952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97586"/>
                </a:solidFill>
                <a:latin typeface="Helvetica Neue"/>
                <a:ea typeface="Helvetica Neue"/>
                <a:cs typeface="Helvetica Neue"/>
              </a:defRPr>
            </a:pPr>
            <a:r>
              <a:t>с 14 мая по локальному снимку репозитория</a:t>
            </a:r>
          </a:p>
        </p:txBody>
      </p:sp>
      <p:sp>
        <p:nvSpPr>
          <p:cNvPr id="12" name="stat-card-1">
            <a:extLst xmlns:a="http://schemas.openxmlformats.org/drawingml/2006/main">
              <a:ext uri="{FF2B5EF4-FFF2-40B4-BE49-F238E27FC236}">
                <a16:creationId xmlns:a16="http://schemas.microsoft.com/office/drawing/2014/main" id="{F37D7F0D-B254-488F-87FB-6685B355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623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stat-accent-1">
            <a:extLst xmlns:a="http://schemas.openxmlformats.org/drawingml/2006/main">
              <a:ext uri="{FF2B5EF4-FFF2-40B4-BE49-F238E27FC236}">
                <a16:creationId xmlns:a16="http://schemas.microsoft.com/office/drawing/2014/main" id="{45F02164-C5E1-4F9D-82A5-1B454ACE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62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FC1"/>
          </a:solidFill>
        </p:spPr>
      </p:sp>
      <p:sp>
        <p:nvSpPr>
          <p:cNvPr id="14" name="stat-num-1">
            <a:extLst xmlns:a="http://schemas.openxmlformats.org/drawingml/2006/main">
              <a:ext uri="{FF2B5EF4-FFF2-40B4-BE49-F238E27FC236}">
                <a16:creationId xmlns:a16="http://schemas.microsoft.com/office/drawing/2014/main" id="{C678AA98-EF73-439B-BB48-C3CA56A9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48000"/>
            <a:ext cx="28575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624</a:t>
            </a:r>
          </a:p>
        </p:txBody>
      </p:sp>
      <p:sp>
        <p:nvSpPr>
          <p:cNvPr id="15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FFDF23-E573-43B5-9D44-5687E626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095750"/>
            <a:ext cx="2952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файла в corpus/</a:t>
            </a:r>
          </a:p>
        </p:txBody>
      </p:sp>
      <p:sp>
        <p:nvSpPr>
          <p:cNvPr id="16" name="stat-note-1">
            <a:extLst xmlns:a="http://schemas.openxmlformats.org/drawingml/2006/main">
              <a:ext uri="{FF2B5EF4-FFF2-40B4-BE49-F238E27FC236}">
                <a16:creationId xmlns:a16="http://schemas.microsoft.com/office/drawing/2014/main" id="{481BAFD5-EEC1-472D-8614-167BAC58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762500"/>
            <a:ext cx="2952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97586"/>
                </a:solidFill>
                <a:latin typeface="Helvetica Neue"/>
                <a:ea typeface="Helvetica Neue"/>
                <a:cs typeface="Helvetica Neue"/>
              </a:defRPr>
            </a:pPr>
            <a:r>
              <a:t>плюс C++ unit/runtime suites</a:t>
            </a:r>
          </a:p>
        </p:txBody>
      </p:sp>
      <p:sp>
        <p:nvSpPr>
          <p:cNvPr id="17" name="stat-card-2">
            <a:extLst xmlns:a="http://schemas.openxmlformats.org/drawingml/2006/main">
              <a:ext uri="{FF2B5EF4-FFF2-40B4-BE49-F238E27FC236}">
                <a16:creationId xmlns:a16="http://schemas.microsoft.com/office/drawing/2014/main" id="{9453CB8C-C0E5-43B6-A07C-8A0C9DD8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623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stat-accent-2">
            <a:extLst xmlns:a="http://schemas.openxmlformats.org/drawingml/2006/main">
              <a:ext uri="{FF2B5EF4-FFF2-40B4-BE49-F238E27FC236}">
                <a16:creationId xmlns:a16="http://schemas.microsoft.com/office/drawing/2014/main" id="{A438B436-0844-45A8-B35E-B1B0F343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62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FC1"/>
          </a:solidFill>
        </p:spPr>
      </p:sp>
      <p:sp>
        <p:nvSpPr>
          <p:cNvPr id="19" name="stat-num-2">
            <a:extLst xmlns:a="http://schemas.openxmlformats.org/drawingml/2006/main">
              <a:ext uri="{FF2B5EF4-FFF2-40B4-BE49-F238E27FC236}">
                <a16:creationId xmlns:a16="http://schemas.microsoft.com/office/drawing/2014/main" id="{B4CE5FB3-9975-49DC-A680-F053ECC7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48000"/>
            <a:ext cx="28575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98AD946-A101-4260-B13E-7035338B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95750"/>
            <a:ext cx="29527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чистые CI toolchain lanes</a:t>
            </a:r>
          </a:p>
        </p:txBody>
      </p:sp>
      <p:sp>
        <p:nvSpPr>
          <p:cNvPr id="21" name="stat-note-2">
            <a:extLst xmlns:a="http://schemas.openxmlformats.org/drawingml/2006/main">
              <a:ext uri="{FF2B5EF4-FFF2-40B4-BE49-F238E27FC236}">
                <a16:creationId xmlns:a16="http://schemas.microsoft.com/office/drawing/2014/main" id="{9FA06391-8754-4B52-BAE6-B7C97A9A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62500"/>
            <a:ext cx="2952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97586"/>
                </a:solidFill>
                <a:latin typeface="Helvetica Neue"/>
                <a:ea typeface="Helvetica Neue"/>
                <a:cs typeface="Helvetica Neue"/>
              </a:defRPr>
            </a:pPr>
            <a:r>
              <a:t>Ubuntu: clang++ и g++</a:t>
            </a:r>
          </a:p>
        </p:txBody>
      </p:sp>
      <p:sp>
        <p:nvSpPr>
          <p:cNvPr id="22" name="stats-footer">
            <a:extLst xmlns:a="http://schemas.openxmlformats.org/drawingml/2006/main">
              <a:ext uri="{FF2B5EF4-FFF2-40B4-BE49-F238E27FC236}">
                <a16:creationId xmlns:a16="http://schemas.microsoft.com/office/drawing/2014/main" id="{02E2A938-A146-4880-A88C-716D19F8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715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Подготовительные self-tests: Ember core + HTTP loopback + ORM integration; SQLite artifacts исполняются успешно.</a:t>
            </a:r>
          </a:p>
        </p:txBody>
      </p:sp>
    </p:spTree>
    <p:extLst>
      <p:ext uri="{BB962C8B-B14F-4D97-AF65-F5344CB8AC3E}">
        <p14:creationId xmlns:p14="http://schemas.microsoft.com/office/powerpoint/2010/main" val="78637311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ase-5">
            <a:extLst xmlns:a="http://schemas.openxmlformats.org/drawingml/2006/main">
              <a:ext uri="{FF2B5EF4-FFF2-40B4-BE49-F238E27FC236}">
                <a16:creationId xmlns:a16="http://schemas.microsoft.com/office/drawing/2014/main" id="{560D2459-9090-4AD0-8FA4-A8AE7ADF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kicker-5">
            <a:extLst xmlns:a="http://schemas.openxmlformats.org/drawingml/2006/main">
              <a:ext uri="{FF2B5EF4-FFF2-40B4-BE49-F238E27FC236}">
                <a16:creationId xmlns:a16="http://schemas.microsoft.com/office/drawing/2014/main" id="{E430E75C-5A68-4AFC-8820-89279D8F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ЧТО НУЖНО ПРОФИНАНСИРОВАТЬ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B763D53D-1BFC-408A-A21A-4987DC53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Риск — не архитектура, а разрыв до публичного продукта</a:t>
            </a:r>
          </a:p>
        </p:txBody>
      </p:sp>
      <p:sp>
        <p:nvSpPr>
          <p:cNvPr id="4" name="rule-5">
            <a:extLst xmlns:a="http://schemas.openxmlformats.org/drawingml/2006/main">
              <a:ext uri="{FF2B5EF4-FFF2-40B4-BE49-F238E27FC236}">
                <a16:creationId xmlns:a16="http://schemas.microsoft.com/office/drawing/2014/main" id="{32FC6671-0289-4A65-A76B-8CA75676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400"/>
          </a:solidFill>
        </p:spPr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04530FEC-BDD5-4F11-8E22-5BD44CF4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23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97586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6" name="gaps-intro">
            <a:extLst xmlns:a="http://schemas.openxmlformats.org/drawingml/2006/main">
              <a:ext uri="{FF2B5EF4-FFF2-40B4-BE49-F238E27FC236}">
                <a16:creationId xmlns:a16="http://schemas.microsoft.com/office/drawing/2014/main" id="{C32482C9-7A13-48A1-96CC-506A9FE7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049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Каждый gap переводится в проверяемый milestone с кодом, тестом, документацией и release evidence.</a:t>
            </a:r>
          </a:p>
        </p:txBody>
      </p:sp>
      <p:sp>
        <p:nvSpPr>
          <p:cNvPr id="7" name="gap-grid-card-0">
            <a:extLst xmlns:a="http://schemas.openxmlformats.org/drawingml/2006/main">
              <a:ext uri="{FF2B5EF4-FFF2-40B4-BE49-F238E27FC236}">
                <a16:creationId xmlns:a16="http://schemas.microsoft.com/office/drawing/2014/main" id="{FFAE48CB-6AFA-4D4F-AAE2-523F769F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54673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0C879"/>
            </a:solidFill>
            <a:prstDash val="solid"/>
          </a:ln>
        </p:spPr>
      </p:sp>
      <p:sp>
        <p:nvSpPr>
          <p:cNvPr id="8" name="gap-grid-num-0">
            <a:extLst xmlns:a="http://schemas.openxmlformats.org/drawingml/2006/main">
              <a:ext uri="{FF2B5EF4-FFF2-40B4-BE49-F238E27FC236}">
                <a16:creationId xmlns:a16="http://schemas.microsoft.com/office/drawing/2014/main" id="{A5B5E7C5-118E-4E95-A56D-4920FC34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438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9" name="gap-grid-title-0">
            <a:extLst xmlns:a="http://schemas.openxmlformats.org/drawingml/2006/main">
              <a:ext uri="{FF2B5EF4-FFF2-40B4-BE49-F238E27FC236}">
                <a16:creationId xmlns:a16="http://schemas.microsoft.com/office/drawing/2014/main" id="{7AEAD75F-81D2-4AA0-8E87-09AEFBC6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0"/>
            <a:ext cx="4381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Release integrity</a:t>
            </a:r>
          </a:p>
        </p:txBody>
      </p:sp>
      <p:sp>
        <p:nvSpPr>
          <p:cNvPr id="10" name="gap-grid-body-0">
            <a:extLst xmlns:a="http://schemas.openxmlformats.org/drawingml/2006/main">
              <a:ext uri="{FF2B5EF4-FFF2-40B4-BE49-F238E27FC236}">
                <a16:creationId xmlns:a16="http://schemas.microsoft.com/office/drawing/2014/main" id="{38ACEA05-1ECE-4E5A-823B-DB07891F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4953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Единая license/governance позиция, versioning, reproducible binaries, manifests</a:t>
            </a:r>
          </a:p>
        </p:txBody>
      </p:sp>
      <p:sp>
        <p:nvSpPr>
          <p:cNvPr id="11" name="gap-grid-card-1">
            <a:extLst xmlns:a="http://schemas.openxmlformats.org/drawingml/2006/main">
              <a:ext uri="{FF2B5EF4-FFF2-40B4-BE49-F238E27FC236}">
                <a16:creationId xmlns:a16="http://schemas.microsoft.com/office/drawing/2014/main" id="{DBAB6F43-F99A-438B-9CF7-73B0456B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57450"/>
            <a:ext cx="54673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gap-grid-num-1">
            <a:extLst xmlns:a="http://schemas.openxmlformats.org/drawingml/2006/main">
              <a:ext uri="{FF2B5EF4-FFF2-40B4-BE49-F238E27FC236}">
                <a16:creationId xmlns:a16="http://schemas.microsoft.com/office/drawing/2014/main" id="{FC71B8B8-1A6F-46F8-B663-CFCBB215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438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3" name="gap-grid-title-1">
            <a:extLst xmlns:a="http://schemas.openxmlformats.org/drawingml/2006/main">
              <a:ext uri="{FF2B5EF4-FFF2-40B4-BE49-F238E27FC236}">
                <a16:creationId xmlns:a16="http://schemas.microsoft.com/office/drawing/2014/main" id="{9C22A440-563B-443B-93CA-B9BE2579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67000"/>
            <a:ext cx="4381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Путь первого пользователя</a:t>
            </a:r>
          </a:p>
        </p:txBody>
      </p:sp>
      <p:sp>
        <p:nvSpPr>
          <p:cNvPr id="14" name="gap-grid-body-1">
            <a:extLst xmlns:a="http://schemas.openxmlformats.org/drawingml/2006/main">
              <a:ext uri="{FF2B5EF4-FFF2-40B4-BE49-F238E27FC236}">
                <a16:creationId xmlns:a16="http://schemas.microsoft.com/office/drawing/2014/main" id="{32E34409-3785-4717-9B60-8A63FA15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81350"/>
            <a:ext cx="4953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RU/EN guide, installation, sample app, publishing workflow, editor tooling</a:t>
            </a:r>
          </a:p>
        </p:txBody>
      </p:sp>
      <p:sp>
        <p:nvSpPr>
          <p:cNvPr id="15" name="gap-grid-card-2">
            <a:extLst xmlns:a="http://schemas.openxmlformats.org/drawingml/2006/main">
              <a:ext uri="{FF2B5EF4-FFF2-40B4-BE49-F238E27FC236}">
                <a16:creationId xmlns:a16="http://schemas.microsoft.com/office/drawing/2014/main" id="{6BF6E0AB-329E-4FE5-860D-F766F18B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54673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gap-grid-num-2">
            <a:extLst xmlns:a="http://schemas.openxmlformats.org/drawingml/2006/main">
              <a:ext uri="{FF2B5EF4-FFF2-40B4-BE49-F238E27FC236}">
                <a16:creationId xmlns:a16="http://schemas.microsoft.com/office/drawing/2014/main" id="{79FC73A1-F13B-47BF-A5FF-2CC4A746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438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7" name="gap-grid-title-2">
            <a:extLst xmlns:a="http://schemas.openxmlformats.org/drawingml/2006/main">
              <a:ext uri="{FF2B5EF4-FFF2-40B4-BE49-F238E27FC236}">
                <a16:creationId xmlns:a16="http://schemas.microsoft.com/office/drawing/2014/main" id="{6D6E4DD7-B7B7-4870-B09A-67B9A55C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4381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Production web boundary</a:t>
            </a:r>
          </a:p>
        </p:txBody>
      </p:sp>
      <p:sp>
        <p:nvSpPr>
          <p:cNvPr id="18" name="gap-grid-body-2">
            <a:extLst xmlns:a="http://schemas.openxmlformats.org/drawingml/2006/main">
              <a:ext uri="{FF2B5EF4-FFF2-40B4-BE49-F238E27FC236}">
                <a16:creationId xmlns:a16="http://schemas.microsoft.com/office/drawing/2014/main" id="{A976074D-9EF1-4380-929E-C58FAC74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4953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TLS/HTTP roadmap, keep-alive, multipart, sessions/cookies/CSRF, proxy trust</a:t>
            </a:r>
          </a:p>
        </p:txBody>
      </p:sp>
      <p:sp>
        <p:nvSpPr>
          <p:cNvPr id="19" name="gap-grid-card-3">
            <a:extLst xmlns:a="http://schemas.openxmlformats.org/drawingml/2006/main">
              <a:ext uri="{FF2B5EF4-FFF2-40B4-BE49-F238E27FC236}">
                <a16:creationId xmlns:a16="http://schemas.microsoft.com/office/drawing/2014/main" id="{833E86F4-09F3-458C-A1FF-5167ABD3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00550"/>
            <a:ext cx="54673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gap-grid-num-3">
            <a:extLst xmlns:a="http://schemas.openxmlformats.org/drawingml/2006/main">
              <a:ext uri="{FF2B5EF4-FFF2-40B4-BE49-F238E27FC236}">
                <a16:creationId xmlns:a16="http://schemas.microsoft.com/office/drawing/2014/main" id="{06AF3268-3424-4CA3-B4A2-ADF17AFB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29150"/>
            <a:ext cx="438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1" name="gap-grid-title-3">
            <a:extLst xmlns:a="http://schemas.openxmlformats.org/drawingml/2006/main">
              <a:ext uri="{FF2B5EF4-FFF2-40B4-BE49-F238E27FC236}">
                <a16:creationId xmlns:a16="http://schemas.microsoft.com/office/drawing/2014/main" id="{2227322B-65BD-4610-B342-FC3E3EF4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10100"/>
            <a:ext cx="4381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Independent assurance</a:t>
            </a:r>
          </a:p>
        </p:txBody>
      </p:sp>
      <p:sp>
        <p:nvSpPr>
          <p:cNvPr id="22" name="gap-grid-body-3">
            <a:extLst xmlns:a="http://schemas.openxmlformats.org/drawingml/2006/main">
              <a:ext uri="{FF2B5EF4-FFF2-40B4-BE49-F238E27FC236}">
                <a16:creationId xmlns:a16="http://schemas.microsoft.com/office/drawing/2014/main" id="{4CB5C3C4-0E5A-4672-8D60-47FC793A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24450"/>
            <a:ext cx="4953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Benchmarks, fuzzing, security review, portability matrix и внешние pilots</a:t>
            </a:r>
          </a:p>
        </p:txBody>
      </p:sp>
    </p:spTree>
    <p:extLst>
      <p:ext uri="{BB962C8B-B14F-4D97-AF65-F5344CB8AC3E}">
        <p14:creationId xmlns:p14="http://schemas.microsoft.com/office/powerpoint/2010/main" val="12649115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ase-6">
            <a:extLst xmlns:a="http://schemas.openxmlformats.org/drawingml/2006/main">
              <a:ext uri="{FF2B5EF4-FFF2-40B4-BE49-F238E27FC236}">
                <a16:creationId xmlns:a16="http://schemas.microsoft.com/office/drawing/2014/main" id="{4D123BD2-7703-47CD-8D42-A8EE9FA8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kicker-6">
            <a:extLst xmlns:a="http://schemas.openxmlformats.org/drawingml/2006/main">
              <a:ext uri="{FF2B5EF4-FFF2-40B4-BE49-F238E27FC236}">
                <a16:creationId xmlns:a16="http://schemas.microsoft.com/office/drawing/2014/main" id="{D24146CC-82C7-4BBE-B465-BD0DB541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КУДА НАПРАВИТЬ ПОДДЕРЖКУ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74864317-D353-4B86-8C58-2A6F7996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Три этапа ведут от preview к adoptable platform</a:t>
            </a:r>
          </a:p>
        </p:txBody>
      </p:sp>
      <p:sp>
        <p:nvSpPr>
          <p:cNvPr id="4" name="rule-6">
            <a:extLst xmlns:a="http://schemas.openxmlformats.org/drawingml/2006/main">
              <a:ext uri="{FF2B5EF4-FFF2-40B4-BE49-F238E27FC236}">
                <a16:creationId xmlns:a16="http://schemas.microsoft.com/office/drawing/2014/main" id="{030D9357-4254-4D87-828B-7BDA0E39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400"/>
          </a:solidFill>
        </p:spPr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E45BFAD1-238C-46D6-9779-A5FB073F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23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97586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6" name="timeline">
            <a:extLst xmlns:a="http://schemas.openxmlformats.org/drawingml/2006/main">
              <a:ext uri="{FF2B5EF4-FFF2-40B4-BE49-F238E27FC236}">
                <a16:creationId xmlns:a16="http://schemas.microsoft.com/office/drawing/2014/main" id="{5D87069C-05C6-49EE-B44D-F1A5EAE7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</p:spPr>
      </p:sp>
      <p:sp>
        <p:nvSpPr>
          <p:cNvPr id="7" name="phase-card-0">
            <a:extLst xmlns:a="http://schemas.openxmlformats.org/drawingml/2006/main">
              <a:ext uri="{FF2B5EF4-FFF2-40B4-BE49-F238E27FC236}">
                <a16:creationId xmlns:a16="http://schemas.microsoft.com/office/drawing/2014/main" id="{1C7F347C-4969-4BCC-9EA9-6152350F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35623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phase-label-0">
            <a:extLst xmlns:a="http://schemas.openxmlformats.org/drawingml/2006/main">
              <a:ext uri="{FF2B5EF4-FFF2-40B4-BE49-F238E27FC236}">
                <a16:creationId xmlns:a16="http://schemas.microsoft.com/office/drawing/2014/main" id="{F6B73528-05C3-4837-839E-1535D4B9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ФАЗА 1</a:t>
            </a:r>
          </a:p>
        </p:txBody>
      </p:sp>
      <p:sp>
        <p:nvSpPr>
          <p:cNvPr id="9" name="phase-title-0">
            <a:extLst xmlns:a="http://schemas.openxmlformats.org/drawingml/2006/main">
              <a:ext uri="{FF2B5EF4-FFF2-40B4-BE49-F238E27FC236}">
                <a16:creationId xmlns:a16="http://schemas.microsoft.com/office/drawing/2014/main" id="{202FC3D4-88FC-4848-AEAE-EDBEA737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Release baseline</a:t>
            </a:r>
          </a:p>
        </p:txBody>
      </p:sp>
      <p:sp>
        <p:nvSpPr>
          <p:cNvPr id="10" name="phase-body-0">
            <a:extLst xmlns:a="http://schemas.openxmlformats.org/drawingml/2006/main">
              <a:ext uri="{FF2B5EF4-FFF2-40B4-BE49-F238E27FC236}">
                <a16:creationId xmlns:a16="http://schemas.microsoft.com/office/drawing/2014/main" id="{4D580C0A-8157-4C87-AC7E-B3685BB1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295275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License + governance
Versioning и manifests
Reproducible macOS/Linux release</a:t>
            </a:r>
          </a:p>
        </p:txBody>
      </p:sp>
      <p:sp>
        <p:nvSpPr>
          <p:cNvPr id="11" name="phase-dot-0">
            <a:extLst xmlns:a="http://schemas.openxmlformats.org/drawingml/2006/main">
              <a:ext uri="{FF2B5EF4-FFF2-40B4-BE49-F238E27FC236}">
                <a16:creationId xmlns:a16="http://schemas.microsoft.com/office/drawing/2014/main" id="{41FFC2AE-935D-4538-871C-8935183D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86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340"/>
          </a:solidFill>
        </p:spPr>
      </p:sp>
      <p:sp>
        <p:nvSpPr>
          <p:cNvPr id="12" name="phase-bottom-0">
            <a:extLst xmlns:a="http://schemas.openxmlformats.org/drawingml/2006/main">
              <a:ext uri="{FF2B5EF4-FFF2-40B4-BE49-F238E27FC236}">
                <a16:creationId xmlns:a16="http://schemas.microsoft.com/office/drawing/2014/main" id="{77B4EC8F-5C5B-4579-B8EA-57290FB0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Основа</a:t>
            </a:r>
          </a:p>
        </p:txBody>
      </p:sp>
      <p:sp>
        <p:nvSpPr>
          <p:cNvPr id="13" name="phase-card-1">
            <a:extLst xmlns:a="http://schemas.openxmlformats.org/drawingml/2006/main">
              <a:ext uri="{FF2B5EF4-FFF2-40B4-BE49-F238E27FC236}">
                <a16:creationId xmlns:a16="http://schemas.microsoft.com/office/drawing/2014/main" id="{5D0DE112-0223-4548-A06D-8346FE46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14500"/>
            <a:ext cx="35623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0C879"/>
            </a:solidFill>
            <a:prstDash val="solid"/>
          </a:ln>
        </p:spPr>
      </p:sp>
      <p:sp>
        <p:nvSpPr>
          <p:cNvPr id="14" name="phase-label-1">
            <a:extLst xmlns:a="http://schemas.openxmlformats.org/drawingml/2006/main">
              <a:ext uri="{FF2B5EF4-FFF2-40B4-BE49-F238E27FC236}">
                <a16:creationId xmlns:a16="http://schemas.microsoft.com/office/drawing/2014/main" id="{D0842C28-95F5-4E24-9E54-1153138D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478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ФАЗА 2</a:t>
            </a:r>
          </a:p>
        </p:txBody>
      </p:sp>
      <p:sp>
        <p:nvSpPr>
          <p:cNvPr id="15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FA3E7166-4469-430C-A7C8-A7E2745E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47650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Adoption path</a:t>
            </a:r>
          </a:p>
        </p:txBody>
      </p:sp>
      <p:sp>
        <p:nvSpPr>
          <p:cNvPr id="16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DFC5F09A-5715-45C2-9059-2A64A881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00400"/>
            <a:ext cx="295275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Завершённый RU/EN guide
Quickstart + sample web/data app
Publishing и compatibility policy</a:t>
            </a:r>
          </a:p>
        </p:txBody>
      </p:sp>
      <p:sp>
        <p:nvSpPr>
          <p:cNvPr id="17" name="phase-dot-1">
            <a:extLst xmlns:a="http://schemas.openxmlformats.org/drawingml/2006/main">
              <a:ext uri="{FF2B5EF4-FFF2-40B4-BE49-F238E27FC236}">
                <a16:creationId xmlns:a16="http://schemas.microsoft.com/office/drawing/2014/main" id="{A1063A46-A9DD-4E6D-850C-C9EF7401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486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8400"/>
          </a:solidFill>
        </p:spPr>
      </p:sp>
      <p:sp>
        <p:nvSpPr>
          <p:cNvPr id="18" name="phase-bottom-1">
            <a:extLst xmlns:a="http://schemas.openxmlformats.org/drawingml/2006/main">
              <a:ext uri="{FF2B5EF4-FFF2-40B4-BE49-F238E27FC236}">
                <a16:creationId xmlns:a16="http://schemas.microsoft.com/office/drawing/2014/main" id="{225613E6-9C89-4257-A2D6-DD6DE64B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82930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Вход</a:t>
            </a:r>
          </a:p>
        </p:txBody>
      </p:sp>
      <p:sp>
        <p:nvSpPr>
          <p:cNvPr id="19" name="phase-card-2">
            <a:extLst xmlns:a="http://schemas.openxmlformats.org/drawingml/2006/main">
              <a:ext uri="{FF2B5EF4-FFF2-40B4-BE49-F238E27FC236}">
                <a16:creationId xmlns:a16="http://schemas.microsoft.com/office/drawing/2014/main" id="{1031B70F-006C-4E17-9BC9-03E35B66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35623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phase-label-2">
            <a:extLst xmlns:a="http://schemas.openxmlformats.org/drawingml/2006/main">
              <a:ext uri="{FF2B5EF4-FFF2-40B4-BE49-F238E27FC236}">
                <a16:creationId xmlns:a16="http://schemas.microsoft.com/office/drawing/2014/main" id="{017B168A-24AD-41DC-8392-EC1E6806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478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ФАЗА 3</a:t>
            </a:r>
          </a:p>
        </p:txBody>
      </p:sp>
      <p:sp>
        <p:nvSpPr>
          <p:cNvPr id="21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4FBA277C-C292-4CE6-9386-9B4F3620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7650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Hardening &amp; pilots</a:t>
            </a:r>
          </a:p>
        </p:txBody>
      </p:sp>
      <p:sp>
        <p:nvSpPr>
          <p:cNvPr id="22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0ADF94A1-0A55-4C2C-82E3-001B105D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00400"/>
            <a:ext cx="295275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Transport/security roadmap
Fuzzing, performance, ABI stability
Design-partner workload</a:t>
            </a:r>
          </a:p>
        </p:txBody>
      </p:sp>
      <p:sp>
        <p:nvSpPr>
          <p:cNvPr id="23" name="phase-dot-2">
            <a:extLst xmlns:a="http://schemas.openxmlformats.org/drawingml/2006/main">
              <a:ext uri="{FF2B5EF4-FFF2-40B4-BE49-F238E27FC236}">
                <a16:creationId xmlns:a16="http://schemas.microsoft.com/office/drawing/2014/main" id="{117FF664-1E07-4E37-B407-93701BB3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86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340"/>
          </a:solidFill>
        </p:spPr>
      </p:sp>
      <p:sp>
        <p:nvSpPr>
          <p:cNvPr id="24" name="phase-bottom-2">
            <a:extLst xmlns:a="http://schemas.openxmlformats.org/drawingml/2006/main">
              <a:ext uri="{FF2B5EF4-FFF2-40B4-BE49-F238E27FC236}">
                <a16:creationId xmlns:a16="http://schemas.microsoft.com/office/drawing/2014/main" id="{81F6B5DD-A94F-4E75-B2D5-FE4DCE90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82930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Доверие</a:t>
            </a:r>
          </a:p>
        </p:txBody>
      </p:sp>
    </p:spTree>
    <p:extLst>
      <p:ext uri="{BB962C8B-B14F-4D97-AF65-F5344CB8AC3E}">
        <p14:creationId xmlns:p14="http://schemas.microsoft.com/office/powerpoint/2010/main" val="57306894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ase-7">
            <a:extLst xmlns:a="http://schemas.openxmlformats.org/drawingml/2006/main">
              <a:ext uri="{FF2B5EF4-FFF2-40B4-BE49-F238E27FC236}">
                <a16:creationId xmlns:a16="http://schemas.microsoft.com/office/drawing/2014/main" id="{7B13893E-2F23-4B9E-ABCD-4DA6E8FA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kicker-7">
            <a:extLst xmlns:a="http://schemas.openxmlformats.org/drawingml/2006/main">
              <a:ext uri="{FF2B5EF4-FFF2-40B4-BE49-F238E27FC236}">
                <a16:creationId xmlns:a16="http://schemas.microsoft.com/office/drawing/2014/main" id="{5C88856D-E1A2-4B98-952B-4E867A85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ФОРМАТЫ УЧАСТИЯ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932439E1-1D52-4505-804F-C31B9AAA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144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Поддержку можно связать с миссией, milestone или pilot</a:t>
            </a:r>
          </a:p>
        </p:txBody>
      </p:sp>
      <p:sp>
        <p:nvSpPr>
          <p:cNvPr id="4" name="rule-7">
            <a:extLst xmlns:a="http://schemas.openxmlformats.org/drawingml/2006/main">
              <a:ext uri="{FF2B5EF4-FFF2-40B4-BE49-F238E27FC236}">
                <a16:creationId xmlns:a16="http://schemas.microsoft.com/office/drawing/2014/main" id="{E9704C31-B00A-4A59-95B7-8A6B2746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8400"/>
          </a:solidFill>
        </p:spPr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59878922-A57A-4C31-A6DB-E5240B2D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81750"/>
            <a:ext cx="523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97586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6" name="modes-intro">
            <a:extLst xmlns:a="http://schemas.openxmlformats.org/drawingml/2006/main">
              <a:ext uri="{FF2B5EF4-FFF2-40B4-BE49-F238E27FC236}">
                <a16:creationId xmlns:a16="http://schemas.microsoft.com/office/drawing/2014/main" id="{899ADDEA-4C44-4EBE-A547-5DD25F64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04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Стоимость определяется после выбора результата и оценки scope — без искусственных tiers и неподтверждённых обещаний.</a:t>
            </a:r>
          </a:p>
        </p:txBody>
      </p:sp>
      <p:sp>
        <p:nvSpPr>
          <p:cNvPr id="7" name="mode-card-0">
            <a:extLst xmlns:a="http://schemas.openxmlformats.org/drawingml/2006/main">
              <a:ext uri="{FF2B5EF4-FFF2-40B4-BE49-F238E27FC236}">
                <a16:creationId xmlns:a16="http://schemas.microsoft.com/office/drawing/2014/main" id="{5EF7E287-40AA-4751-820A-EACD3F80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35623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mode-spacer-0">
            <a:extLst xmlns:a="http://schemas.openxmlformats.org/drawingml/2006/main">
              <a:ext uri="{FF2B5EF4-FFF2-40B4-BE49-F238E27FC236}">
                <a16:creationId xmlns:a16="http://schemas.microsoft.com/office/drawing/2014/main" id="{CBCE9EAC-3184-4B61-8D13-F0A2811F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9" name="mode-title-0">
            <a:extLst xmlns:a="http://schemas.openxmlformats.org/drawingml/2006/main">
              <a:ext uri="{FF2B5EF4-FFF2-40B4-BE49-F238E27FC236}">
                <a16:creationId xmlns:a16="http://schemas.microsoft.com/office/drawing/2014/main" id="{E7A998C3-3C31-4A34-A388-A2BF5DE9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3048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Founding
supporter</a:t>
            </a:r>
          </a:p>
        </p:txBody>
      </p:sp>
      <p:sp>
        <p:nvSpPr>
          <p:cNvPr id="10" name="mode-body-0">
            <a:extLst xmlns:a="http://schemas.openxmlformats.org/drawingml/2006/main">
              <a:ext uri="{FF2B5EF4-FFF2-40B4-BE49-F238E27FC236}">
                <a16:creationId xmlns:a16="http://schemas.microsoft.com/office/drawing/2014/main" id="{1C5D07B4-2DCD-45D9-98B2-E0FD1C28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30670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Maintainer time и базовая инфраструктура для независимого language/runtime R&amp;D</a:t>
            </a:r>
          </a:p>
        </p:txBody>
      </p:sp>
      <p:sp>
        <p:nvSpPr>
          <p:cNvPr id="11" name="mode-focus-0">
            <a:extLst xmlns:a="http://schemas.openxmlformats.org/drawingml/2006/main">
              <a:ext uri="{FF2B5EF4-FFF2-40B4-BE49-F238E27FC236}">
                <a16:creationId xmlns:a16="http://schemas.microsoft.com/office/drawing/2014/main" id="{957CBC5A-CE4F-4645-8B7C-CDB2F425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97586"/>
                </a:solidFill>
                <a:latin typeface="Helvetica Neue"/>
                <a:ea typeface="Helvetica Neue"/>
                <a:cs typeface="Helvetica Neue"/>
              </a:defRPr>
            </a:pPr>
            <a:r>
              <a:t>ФОКУС</a:t>
            </a:r>
          </a:p>
        </p:txBody>
      </p:sp>
      <p:sp>
        <p:nvSpPr>
          <p:cNvPr id="12" name="mode-result-0">
            <a:extLst xmlns:a="http://schemas.openxmlformats.org/drawingml/2006/main">
              <a:ext uri="{FF2B5EF4-FFF2-40B4-BE49-F238E27FC236}">
                <a16:creationId xmlns:a16="http://schemas.microsoft.com/office/drawing/2014/main" id="{7D7AB806-6282-42D3-9E01-D7A57D68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62550"/>
            <a:ext cx="2952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Непрерывность</a:t>
            </a:r>
          </a:p>
        </p:txBody>
      </p:sp>
      <p:sp>
        <p:nvSpPr>
          <p:cNvPr id="13" name="mode-card-1">
            <a:extLst xmlns:a="http://schemas.openxmlformats.org/drawingml/2006/main">
              <a:ext uri="{FF2B5EF4-FFF2-40B4-BE49-F238E27FC236}">
                <a16:creationId xmlns:a16="http://schemas.microsoft.com/office/drawing/2014/main" id="{E309A05C-B634-4F4E-8823-5D1F686C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238375"/>
            <a:ext cx="35623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F0C879"/>
            </a:solidFill>
            <a:prstDash val="solid"/>
          </a:ln>
        </p:spPr>
      </p:sp>
      <p:sp>
        <p:nvSpPr>
          <p:cNvPr id="14" name="mode-recommended">
            <a:extLst xmlns:a="http://schemas.openxmlformats.org/drawingml/2006/main">
              <a:ext uri="{FF2B5EF4-FFF2-40B4-BE49-F238E27FC236}">
                <a16:creationId xmlns:a16="http://schemas.microsoft.com/office/drawing/2014/main" id="{EBDD57FF-EE02-481B-BDB2-FB6BEEAF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428875"/>
            <a:ext cx="238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ПРАКТИЧНЫЙ СТАРТ</a:t>
            </a:r>
          </a:p>
        </p:txBody>
      </p:sp>
      <p:sp>
        <p:nvSpPr>
          <p:cNvPr id="15" name="mode-title-1">
            <a:extLst xmlns:a="http://schemas.openxmlformats.org/drawingml/2006/main">
              <a:ext uri="{FF2B5EF4-FFF2-40B4-BE49-F238E27FC236}">
                <a16:creationId xmlns:a16="http://schemas.microsoft.com/office/drawing/2014/main" id="{BF9BAC4E-6E89-4EBE-998E-FB525463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00350"/>
            <a:ext cx="3048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Milestone
sponsor</a:t>
            </a:r>
          </a:p>
        </p:txBody>
      </p:sp>
      <p:sp>
        <p:nvSpPr>
          <p:cNvPr id="16" name="mode-body-1">
            <a:extLst xmlns:a="http://schemas.openxmlformats.org/drawingml/2006/main">
              <a:ext uri="{FF2B5EF4-FFF2-40B4-BE49-F238E27FC236}">
                <a16:creationId xmlns:a16="http://schemas.microsoft.com/office/drawing/2014/main" id="{58141482-C690-4FD5-8BF4-25D14BC3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695700"/>
            <a:ext cx="30670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Конкретный результат: release, docs, distribution, security work или protocol capability</a:t>
            </a:r>
          </a:p>
        </p:txBody>
      </p:sp>
      <p:sp>
        <p:nvSpPr>
          <p:cNvPr id="17" name="mode-focus-1">
            <a:extLst xmlns:a="http://schemas.openxmlformats.org/drawingml/2006/main">
              <a:ext uri="{FF2B5EF4-FFF2-40B4-BE49-F238E27FC236}">
                <a16:creationId xmlns:a16="http://schemas.microsoft.com/office/drawing/2014/main" id="{0DE45C8D-DA17-4DCC-BC6D-7099A5B4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85775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97586"/>
                </a:solidFill>
                <a:latin typeface="Helvetica Neue"/>
                <a:ea typeface="Helvetica Neue"/>
                <a:cs typeface="Helvetica Neue"/>
              </a:defRPr>
            </a:pPr>
            <a:r>
              <a:t>ФОКУС</a:t>
            </a:r>
          </a:p>
        </p:txBody>
      </p:sp>
      <p:sp>
        <p:nvSpPr>
          <p:cNvPr id="18" name="mode-result-1">
            <a:extLst xmlns:a="http://schemas.openxmlformats.org/drawingml/2006/main">
              <a:ext uri="{FF2B5EF4-FFF2-40B4-BE49-F238E27FC236}">
                <a16:creationId xmlns:a16="http://schemas.microsoft.com/office/drawing/2014/main" id="{1A9AC86D-C4A4-4088-B62E-8D4EDBF7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162550"/>
            <a:ext cx="2952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Артефакт</a:t>
            </a:r>
          </a:p>
        </p:txBody>
      </p:sp>
      <p:sp>
        <p:nvSpPr>
          <p:cNvPr id="19" name="mode-card-2">
            <a:extLst xmlns:a="http://schemas.openxmlformats.org/drawingml/2006/main">
              <a:ext uri="{FF2B5EF4-FFF2-40B4-BE49-F238E27FC236}">
                <a16:creationId xmlns:a16="http://schemas.microsoft.com/office/drawing/2014/main" id="{A8B5EF6B-A288-4039-86D1-E0F4BE1F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38375"/>
            <a:ext cx="35623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mode-spacer-2">
            <a:extLst xmlns:a="http://schemas.openxmlformats.org/drawingml/2006/main">
              <a:ext uri="{FF2B5EF4-FFF2-40B4-BE49-F238E27FC236}">
                <a16:creationId xmlns:a16="http://schemas.microsoft.com/office/drawing/2014/main" id="{2909AB22-16E0-4783-960F-504BC387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28875"/>
            <a:ext cx="9525" cy="9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21" name="mode-title-2">
            <a:extLst xmlns:a="http://schemas.openxmlformats.org/drawingml/2006/main">
              <a:ext uri="{FF2B5EF4-FFF2-40B4-BE49-F238E27FC236}">
                <a16:creationId xmlns:a16="http://schemas.microsoft.com/office/drawing/2014/main" id="{A30BA210-3D65-421A-9E3C-2FDE9184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00350"/>
            <a:ext cx="3048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Strategic design
partner</a:t>
            </a:r>
          </a:p>
        </p:txBody>
      </p:sp>
      <p:sp>
        <p:nvSpPr>
          <p:cNvPr id="22" name="mode-body-2">
            <a:extLst xmlns:a="http://schemas.openxmlformats.org/drawingml/2006/main">
              <a:ext uri="{FF2B5EF4-FFF2-40B4-BE49-F238E27FC236}">
                <a16:creationId xmlns:a16="http://schemas.microsoft.com/office/drawing/2014/main" id="{6B4CDB62-9D2C-4649-8E62-BA2B8403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95700"/>
            <a:ext cx="30670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Ограниченный pilot с реальным workload, требованиями и совместной оценкой границ</a:t>
            </a:r>
          </a:p>
        </p:txBody>
      </p:sp>
      <p:sp>
        <p:nvSpPr>
          <p:cNvPr id="23" name="mode-focus-2">
            <a:extLst xmlns:a="http://schemas.openxmlformats.org/drawingml/2006/main">
              <a:ext uri="{FF2B5EF4-FFF2-40B4-BE49-F238E27FC236}">
                <a16:creationId xmlns:a16="http://schemas.microsoft.com/office/drawing/2014/main" id="{6B675563-38AB-40AB-AD69-3E4B50AA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5775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97586"/>
                </a:solidFill>
                <a:latin typeface="Helvetica Neue"/>
                <a:ea typeface="Helvetica Neue"/>
                <a:cs typeface="Helvetica Neue"/>
              </a:defRPr>
            </a:pPr>
            <a:r>
              <a:t>ФОКУС</a:t>
            </a:r>
          </a:p>
        </p:txBody>
      </p:sp>
      <p:sp>
        <p:nvSpPr>
          <p:cNvPr id="24" name="mode-result-2">
            <a:extLst xmlns:a="http://schemas.openxmlformats.org/drawingml/2006/main">
              <a:ext uri="{FF2B5EF4-FFF2-40B4-BE49-F238E27FC236}">
                <a16:creationId xmlns:a16="http://schemas.microsoft.com/office/drawing/2014/main" id="{557F2B51-1657-48E8-9F8E-5CE4CCC7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62550"/>
            <a:ext cx="2952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Pilot evidence</a:t>
            </a:r>
          </a:p>
        </p:txBody>
      </p:sp>
      <p:sp>
        <p:nvSpPr>
          <p:cNvPr id="25" name="modes-inkind">
            <a:extLst xmlns:a="http://schemas.openxmlformats.org/drawingml/2006/main">
              <a:ext uri="{FF2B5EF4-FFF2-40B4-BE49-F238E27FC236}">
                <a16:creationId xmlns:a16="http://schemas.microsoft.com/office/drawing/2014/main" id="{5CAA72E8-5B2C-4DCA-A205-4BB8F628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066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In-kind: CI capacity, macOS/Linux runners, security expertise, documentation/design, hosting, доступ к pilot users.</a:t>
            </a:r>
          </a:p>
        </p:txBody>
      </p:sp>
    </p:spTree>
    <p:extLst>
      <p:ext uri="{BB962C8B-B14F-4D97-AF65-F5344CB8AC3E}">
        <p14:creationId xmlns:p14="http://schemas.microsoft.com/office/powerpoint/2010/main" val="13211426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sputnik-hero-clos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facab2a40b47dc"/>
          <a:stretch xmlns:a="http://schemas.openxmlformats.org/drawingml/2006/main"/>
        </p:blipFill>
        <p:spPr>
          <a:xfrm xmlns:a="http://schemas.openxmlformats.org/drawingml/2006/main">
            <a:off x="2438212" y="0"/>
            <a:ext cx="7315577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lose-wash">
            <a:extLst xmlns:a="http://schemas.openxmlformats.org/drawingml/2006/main">
              <a:ext uri="{FF2B5EF4-FFF2-40B4-BE49-F238E27FC236}">
                <a16:creationId xmlns:a16="http://schemas.microsoft.com/office/drawing/2014/main" id="{F27B7497-E6A4-4400-9121-4E2CC0CB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34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</p:spPr>
      </p:sp>
      <p:pic>
        <p:nvPicPr>
          <p:cNvPr id="13" name="sputnik-logo-clos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a446d061e495b"/>
          <a:stretch xmlns:a="http://schemas.openxmlformats.org/drawingml/2006/main"/>
        </p:blipFill>
        <p:spPr>
          <a:xfrm xmlns:a="http://schemas.openxmlformats.org/drawingml/2006/main">
            <a:off x="610212" y="381000"/>
            <a:ext cx="894126" cy="838200"/>
          </a:xfrm>
          <a:prstGeom xmlns:a="http://schemas.openxmlformats.org/drawingml/2006/main" prst="rect">
            <a:avLst/>
          </a:prstGeom>
        </p:spPr>
      </p:pic>
      <p:sp>
        <p:nvSpPr>
          <p:cNvPr id="4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4677F413-0144-4DC3-B9BB-0A3118C2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18400"/>
                </a:solidFill>
                <a:latin typeface="Helvetica Neue"/>
                <a:ea typeface="Helvetica Neue"/>
                <a:cs typeface="Helvetica Neue"/>
              </a:defRPr>
            </a:pPr>
            <a:r>
              <a:t>СЛЕДУЮЩИЙ ШАГ</a:t>
            </a:r>
          </a:p>
        </p:txBody>
      </p:sp>
      <p:sp>
        <p:nvSpPr>
          <p:cNvPr id="5" name="close-title">
            <a:extLst xmlns:a="http://schemas.openxmlformats.org/drawingml/2006/main">
              <a:ext uri="{FF2B5EF4-FFF2-40B4-BE49-F238E27FC236}">
                <a16:creationId xmlns:a16="http://schemas.microsoft.com/office/drawing/2014/main" id="{CE5BB2BF-EC1F-418F-9110-4CB2C56B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61912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B2340"/>
                </a:solidFill>
                <a:latin typeface="Helvetica Neue"/>
                <a:ea typeface="Helvetica Neue"/>
                <a:cs typeface="Helvetica Neue"/>
              </a:defRPr>
            </a:pPr>
            <a:r>
              <a:t>Выберите один
измеримый результат</a:t>
            </a:r>
          </a:p>
        </p:txBody>
      </p:sp>
      <p:sp>
        <p:nvSpPr>
          <p:cNvPr id="6" name="close-options">
            <a:extLst xmlns:a="http://schemas.openxmlformats.org/drawingml/2006/main">
              <a:ext uri="{FF2B5EF4-FFF2-40B4-BE49-F238E27FC236}">
                <a16:creationId xmlns:a16="http://schemas.microsoft.com/office/drawing/2014/main" id="{AAE746C4-9D8E-43CA-B2CF-7BF72A6C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6096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Публичный release  •  package distribution
web production boundary  •  design-partner pilot</a:t>
            </a:r>
          </a:p>
        </p:txBody>
      </p:sp>
      <p:sp>
        <p:nvSpPr>
          <p:cNvPr id="7" name="close-body">
            <a:extLst xmlns:a="http://schemas.openxmlformats.org/drawingml/2006/main">
              <a:ext uri="{FF2B5EF4-FFF2-40B4-BE49-F238E27FC236}">
                <a16:creationId xmlns:a16="http://schemas.microsoft.com/office/drawing/2014/main" id="{B9367292-BB7F-4496-A883-96E60FCF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6000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293241"/>
                </a:solidFill>
                <a:latin typeface="Helvetica Neue"/>
                <a:ea typeface="Helvetica Neue"/>
                <a:cs typeface="Helvetica Neue"/>
              </a:defRPr>
            </a:pPr>
            <a:r>
              <a:t>Следом — milestone brief: deliverables, acceptance criteria, риски, календарь и бюджет.</a:t>
            </a:r>
          </a:p>
        </p:txBody>
      </p:sp>
      <p:sp>
        <p:nvSpPr>
          <p:cNvPr id="8" name="close-url">
            <a:extLst xmlns:a="http://schemas.openxmlformats.org/drawingml/2006/main">
              <a:ext uri="{FF2B5EF4-FFF2-40B4-BE49-F238E27FC236}">
                <a16:creationId xmlns:a16="http://schemas.microsoft.com/office/drawing/2014/main" id="{922C9768-9F2C-43BE-9306-4463384A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533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D7FC1"/>
                </a:solidFill>
                <a:latin typeface="Helvetica Neue"/>
                <a:ea typeface="Helvetica Neue"/>
                <a:cs typeface="Helvetica Neue"/>
              </a:defRPr>
            </a:pPr>
            <a:r>
              <a:t>github.com/orlando-labs/amber-lang</a:t>
            </a:r>
          </a:p>
        </p:txBody>
      </p:sp>
    </p:spTree>
    <p:extLst>
      <p:ext uri="{BB962C8B-B14F-4D97-AF65-F5344CB8AC3E}">
        <p14:creationId xmlns:p14="http://schemas.microsoft.com/office/powerpoint/2010/main" val="11329762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2026-10-06T09:38:21.8380000Z</dcterms:created>
  <dcterms:modified xsi:type="dcterms:W3CDTF">2026-10-06T09:38:21.8380000Z</dcterms:modified>
</coreProperties>
</file>